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fce49da-2ae9-5f44-b078-7bbb15d836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066" y="182880"/>
            <a:ext cx="8861562" cy="5166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040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623560"/>
            <a:ext cx="115516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39FF14"/>
                </a:solidFill>
                <a:latin typeface="Lucida Console"/>
              </a:rPr>
              <a:t>US10Y // PANELA DE PRESSÃO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16168"/>
            <a:ext cx="1155161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>
                <a:solidFill>
                  <a:srgbClr val="F5FFF5"/>
                </a:solidFill>
                <a:latin typeface="Lucida Console"/>
              </a:rPr>
              <a:t>ENTRE 4% E 5%, O MERCADO COMPRIME ENERGIA PARA MIRAR 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117336"/>
            <a:ext cx="105457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0" b="0">
                <a:solidFill>
                  <a:srgbClr val="F5FFF5"/>
                </a:solidFill>
                <a:latin typeface="Lucida Console"/>
              </a:rPr>
              <a:t>O Treasury de 10 anos está em uma fase decisiva: depois de uma reprecificação estrutural iniciada em 2020, o yield consolidou em patamar alto e volta a pressionar a região crítica de 4,75%–5,02%. A leitura favorece continuação altista, mas a confirmação real depende de aceitação acima da máxima estrutural.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5FFF5"/>
                </a:solidFill>
                <a:latin typeface="Lucida Console"/>
              </a:rPr>
              <a:t>1/10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5623560"/>
            <a:ext cx="2971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5FFF5"/>
                </a:solidFill>
                <a:latin typeface="Lucida Console"/>
              </a:rPr>
              <a:t>/// MATRIX DOSSIER // USER CHARTS // TRADINGVIEW ///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532120"/>
            <a:ext cx="12191695" cy="320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" y="5623560"/>
            <a:ext cx="41148" cy="8686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38a5686-d806-56da-a943-415520fde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066" y="182880"/>
            <a:ext cx="8861562" cy="5166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040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623560"/>
            <a:ext cx="115516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39FF14"/>
                </a:solidFill>
                <a:latin typeface="Lucida Console"/>
              </a:rPr>
              <a:t>01 // O DIAGNÓSTICO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16168"/>
            <a:ext cx="1155161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>
                <a:solidFill>
                  <a:srgbClr val="F5FFF5"/>
                </a:solidFill>
                <a:latin typeface="Lucida Console"/>
              </a:rPr>
              <a:t>O RANGE ALTO VIROU A ARENA PRINCIPAL DA CURVA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117336"/>
            <a:ext cx="105457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0" b="0">
                <a:solidFill>
                  <a:srgbClr val="F5FFF5"/>
                </a:solidFill>
                <a:latin typeface="Lucida Console"/>
              </a:rPr>
              <a:t>Leitura principal: o US10Y saiu de uma faixa intermediária e voltou a pressionar a borda superior da grande consolidação. Campo de batalha: 4,75%–5,02% concentra resistência imediata e estrutural. Risco da tese: perder 4,40% sugeriria falso rompimento; perder 4,15%–4,20% enfraqueceria a estrutura altista de médio prazo.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5FFF5"/>
                </a:solidFill>
                <a:latin typeface="Lucida Console"/>
              </a:rPr>
              <a:t>2/10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5623560"/>
            <a:ext cx="2971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5FFF5"/>
                </a:solidFill>
                <a:latin typeface="Lucida Console"/>
              </a:rPr>
              <a:t>/// MATRIX DOSSIER // USER CHARTS // TRADINGVIEW ///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532120"/>
            <a:ext cx="12191695" cy="320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" y="5623560"/>
            <a:ext cx="41148" cy="8686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11d9f1d-7ae4-5898-b405-dc1c4b9df0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066" y="182880"/>
            <a:ext cx="8861562" cy="5166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040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623560"/>
            <a:ext cx="115516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39FF14"/>
                </a:solidFill>
                <a:latin typeface="Lucida Console"/>
              </a:rPr>
              <a:t>02 // FIM DA GRAVIDADE 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16168"/>
            <a:ext cx="1155161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>
                <a:solidFill>
                  <a:srgbClr val="F5FFF5"/>
                </a:solidFill>
                <a:latin typeface="Lucida Console"/>
              </a:rPr>
              <a:t>2020 ENCERROU O CICLO DE YIELDS ARTIFICIALMENTE BAIXOS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117336"/>
            <a:ext cx="105457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0" b="0">
                <a:solidFill>
                  <a:srgbClr val="F5FFF5"/>
                </a:solidFill>
                <a:latin typeface="Lucida Console"/>
              </a:rPr>
              <a:t>Entre 2007 e 2020, o mercado viveu um longo ciclo secular de queda nos yields. O fundo pandêmico perto de 0,30%–0,50% marcou a quebra desse regime e iniciou uma reprecificação agressiva para cima. A implicação técnica é importante: a consolidação atual ocorre em patamar alto, o que favorece leitura de continuidade, e não de simples neutralidade.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5FFF5"/>
                </a:solidFill>
                <a:latin typeface="Lucida Console"/>
              </a:rPr>
              <a:t>3/10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5623560"/>
            <a:ext cx="2971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5FFF5"/>
                </a:solidFill>
                <a:latin typeface="Lucida Console"/>
              </a:rPr>
              <a:t>/// MATRIX DOSSIER // USER CHARTS // TRADINGVIEW ///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532120"/>
            <a:ext cx="12191695" cy="320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" y="5623560"/>
            <a:ext cx="41148" cy="8686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440355d-153d-5554-a86f-a7ed2ed09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066" y="182880"/>
            <a:ext cx="8861562" cy="5166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040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623560"/>
            <a:ext cx="115516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39FF14"/>
                </a:solidFill>
                <a:latin typeface="Lucida Console"/>
              </a:rPr>
              <a:t>03 // O CORREDOR 3,7–5,0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16168"/>
            <a:ext cx="1155161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>
                <a:solidFill>
                  <a:srgbClr val="F5FFF5"/>
                </a:solidFill>
                <a:latin typeface="Lucida Console"/>
              </a:rPr>
              <a:t>A FAIXA QUE CONTROLA TODO O MAPA MACRO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117336"/>
            <a:ext cx="105457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0" b="0">
                <a:solidFill>
                  <a:srgbClr val="F5FFF5"/>
                </a:solidFill>
                <a:latin typeface="Lucida Console"/>
              </a:rPr>
              <a:t>A estrutura principal pode ser lida como uma grande consolidação entre 3,70%–3,80% e 4,95%–5,02%. No meio desse range, 4,30%–4,40% funcionou como faixa de equilíbrio e, após o rompimento recente, mudou de polaridade para suporte. Enquanto 3,70%–3,80% for preservado, o mercado segue aceitando yields elevados em grau macro.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5FFF5"/>
                </a:solidFill>
                <a:latin typeface="Lucida Console"/>
              </a:rPr>
              <a:t>4/10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5623560"/>
            <a:ext cx="2971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5FFF5"/>
                </a:solidFill>
                <a:latin typeface="Lucida Console"/>
              </a:rPr>
              <a:t>/// MATRIX DOSSIER // USER CHARTS // TRADINGVIEW ///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532120"/>
            <a:ext cx="12191695" cy="320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" y="5623560"/>
            <a:ext cx="41148" cy="8686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429f27f-ad9f-5883-8965-5dfb7c0ab2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066" y="182880"/>
            <a:ext cx="8861562" cy="5166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040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623560"/>
            <a:ext cx="115516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39FF14"/>
                </a:solidFill>
                <a:latin typeface="Lucida Console"/>
              </a:rPr>
              <a:t>04 // O FUNIL ASCENDENTE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16168"/>
            <a:ext cx="1155161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>
                <a:solidFill>
                  <a:srgbClr val="F5FFF5"/>
                </a:solidFill>
                <a:latin typeface="Lucida Console"/>
              </a:rPr>
              <a:t>FUNDOS MAIS ALTOS APERTAM O PREÇO CONTRA O TETO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117336"/>
            <a:ext cx="105457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0" b="0">
                <a:solidFill>
                  <a:srgbClr val="F5FFF5"/>
                </a:solidFill>
                <a:latin typeface="Lucida Console"/>
              </a:rPr>
              <a:t>Sua leitura estrutural faz sentido: o gráfico sugere uma compressão com suporte ascendente e teto próximo à máxima do ciclo. Os fundos mais altos desde 2023 mostram defesa progressiva de níveis elevados, enquanto a resistência superior concentra a área de decisão perto de 5,00%. Não é uma consolidação fraca; é uma pausa elevada após uma perna estrutural de alta.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5FFF5"/>
                </a:solidFill>
                <a:latin typeface="Lucida Console"/>
              </a:rPr>
              <a:t>5/10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5623560"/>
            <a:ext cx="2971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5FFF5"/>
                </a:solidFill>
                <a:latin typeface="Lucida Console"/>
              </a:rPr>
              <a:t>/// MATRIX DOSSIER // USER CHARTS // TRADINGVIEW ///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532120"/>
            <a:ext cx="12191695" cy="320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" y="5623560"/>
            <a:ext cx="41148" cy="8686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d04e079-a5f4-5c45-b0ed-2f8eeacbb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066" y="182880"/>
            <a:ext cx="8861562" cy="5166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040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623560"/>
            <a:ext cx="115516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39FF14"/>
                </a:solidFill>
                <a:latin typeface="Lucida Console"/>
              </a:rPr>
              <a:t>05 // A CHAVE DO COFRE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16168"/>
            <a:ext cx="1155161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>
                <a:solidFill>
                  <a:srgbClr val="F5FFF5"/>
                </a:solidFill>
                <a:latin typeface="Lucida Console"/>
              </a:rPr>
              <a:t>4,40% DEIXOU DE SER BARREIRA E VIROU PISO DE DEFESA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117336"/>
            <a:ext cx="105457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0" b="0">
                <a:solidFill>
                  <a:srgbClr val="F5FFF5"/>
                </a:solidFill>
                <a:latin typeface="Lucida Console"/>
              </a:rPr>
              <a:t>No curto prazo, a sequência ficou limpa: consolidação entre 4,15% e 4,40%; rompimento do teto em 4,38%–4,42%; aceitação acima; e aceleração para a faixa de 4,70%+. O nível mais importante agora é justamente 4,38%–4,42%, que virou suporte de controle. Retorno abaixo de 4,60% pode sinalizar realização curta, mas o problema real só começa abaixo de 4,40%.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5FFF5"/>
                </a:solidFill>
                <a:latin typeface="Lucida Console"/>
              </a:rPr>
              <a:t>6/10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5623560"/>
            <a:ext cx="2971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5FFF5"/>
                </a:solidFill>
                <a:latin typeface="Lucida Console"/>
              </a:rPr>
              <a:t>/// MATRIX DOSSIER // USER CHARTS // TRADINGVIEW ///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532120"/>
            <a:ext cx="12191695" cy="320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" y="5623560"/>
            <a:ext cx="41148" cy="8686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24457ca-5e79-50d4-9678-ae76f248d8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066" y="182880"/>
            <a:ext cx="8861562" cy="5166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040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623560"/>
            <a:ext cx="115516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39FF14"/>
                </a:solidFill>
                <a:latin typeface="Lucida Console"/>
              </a:rPr>
              <a:t>06 // CÓDIGO DOS NÍVEIS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16168"/>
            <a:ext cx="1155161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>
                <a:solidFill>
                  <a:srgbClr val="F5FFF5"/>
                </a:solidFill>
                <a:latin typeface="Lucida Console"/>
              </a:rPr>
              <a:t>CADA ZONA ACENDE UM SINAL DIFERENTE NO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117336"/>
            <a:ext cx="105457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0" b="0">
                <a:solidFill>
                  <a:srgbClr val="F5FFF5"/>
                </a:solidFill>
                <a:latin typeface="Lucida Console"/>
              </a:rPr>
              <a:t>Resistência imediata: 4,75%–4,85%. Resistência estrutural: 4,95%–5,02%. Suporte curto: 4,55%–4,60%. Suporte de controle: 4,38%–4,42%. Invalidação parcial: 4,15%–4,20%. Suporte estrutural: 3,70%–3,80%. A chave é acompanhar a reação do preço nessas faixas, em vez de tentar prever o topo ou o fundo de forma isolada.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5FFF5"/>
                </a:solidFill>
                <a:latin typeface="Lucida Console"/>
              </a:rPr>
              <a:t>7/10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5623560"/>
            <a:ext cx="2971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5FFF5"/>
                </a:solidFill>
                <a:latin typeface="Lucida Console"/>
              </a:rPr>
              <a:t>/// MATRIX DOSSIER // USER CHARTS // TRADINGVIEW ///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532120"/>
            <a:ext cx="12191695" cy="320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" y="5623560"/>
            <a:ext cx="41148" cy="8686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fce49da-2ae9-5f44-b078-7bbb15d836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066" y="182880"/>
            <a:ext cx="8861562" cy="5166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040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623560"/>
            <a:ext cx="115516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39FF14"/>
                </a:solidFill>
                <a:latin typeface="Lucida Console"/>
              </a:rPr>
              <a:t>07 // PORTA DOS 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16168"/>
            <a:ext cx="1155161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>
                <a:solidFill>
                  <a:srgbClr val="F5FFF5"/>
                </a:solidFill>
                <a:latin typeface="Lucida Console"/>
              </a:rPr>
              <a:t>ACIMA DE 5,02%, AS EXTENSÕES DEIXAM DE SER HIPÓTESE DISTANTE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117336"/>
            <a:ext cx="105457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0" b="0">
                <a:solidFill>
                  <a:srgbClr val="F5FFF5"/>
                </a:solidFill>
                <a:latin typeface="Lucida Console"/>
              </a:rPr>
              <a:t>A projeção por Fibonacci acima da máxima estrutural é válida, mas precisa de hierarquia. Estágio 1: rompimento de 4,85% e teste de 4,95%–5,02%. Estágio 2: fechamento semanal/mensal acima de 5,02%, abrindo projeções para 5,45%–5,55% e, em cenário estendido, 5,95%–6,05%. 5,50% e 6,00% não são destinos automáticos; eles só ganham peso com aceitação acima da máxima do ciclo.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5FFF5"/>
                </a:solidFill>
                <a:latin typeface="Lucida Console"/>
              </a:rPr>
              <a:t>8/10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5623560"/>
            <a:ext cx="2971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5FFF5"/>
                </a:solidFill>
                <a:latin typeface="Lucida Console"/>
              </a:rPr>
              <a:t>/// MATRIX DOSSIER // USER CHARTS // TRADINGVIEW ///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532120"/>
            <a:ext cx="12191695" cy="320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" y="5623560"/>
            <a:ext cx="41148" cy="8686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5fce49da-2ae9-5f44-b078-7bbb15d836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066" y="182880"/>
            <a:ext cx="8861562" cy="5166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040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623560"/>
            <a:ext cx="115516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39FF14"/>
                </a:solidFill>
                <a:latin typeface="Lucida Console"/>
              </a:rPr>
              <a:t>08 // ÁRVORE DE DECISÃO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16168"/>
            <a:ext cx="1155161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>
                <a:solidFill>
                  <a:srgbClr val="F5FFF5"/>
                </a:solidFill>
                <a:latin typeface="Lucida Console"/>
              </a:rPr>
              <a:t>CONTINUAÇÃO, REJEIÇÃO OU FALSO ROMPIMENTO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117336"/>
            <a:ext cx="105457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0" b="0">
                <a:solidFill>
                  <a:srgbClr val="F5FFF5"/>
                </a:solidFill>
                <a:latin typeface="Lucida Console"/>
              </a:rPr>
              <a:t>Cenário principal: continuação altista, com sustentação acima de 4,40% e novo ataque à região 4,75%–5,02%; acima de 5,02%, o gráfico destrava expansão. Cenário alternativo: rejeição no topo, correção para 4,55%–4,60% e reteste de 4,38%–4,42%, ainda sem invalidar a estrutura. Invalidação: perda de 4,40% indica falso rompimento; perda de 4,15%–4,20% enfraquece fortemente a tese.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5FFF5"/>
                </a:solidFill>
                <a:latin typeface="Lucida Console"/>
              </a:rPr>
              <a:t>9/10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5623560"/>
            <a:ext cx="2971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5FFF5"/>
                </a:solidFill>
                <a:latin typeface="Lucida Console"/>
              </a:rPr>
              <a:t>/// MATRIX DOSSIER // USER CHARTS // TRADINGVIEW ///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532120"/>
            <a:ext cx="12191695" cy="320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" y="5623560"/>
            <a:ext cx="41148" cy="8686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9429f27f-ad9f-5883-8965-5dfb7c0ab2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066" y="182880"/>
            <a:ext cx="8861562" cy="5166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040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623560"/>
            <a:ext cx="115516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39FF14"/>
                </a:solidFill>
                <a:latin typeface="Lucida Console"/>
              </a:rPr>
              <a:t>09 // PROTOCOLO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5916168"/>
            <a:ext cx="1155161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>
                <a:solidFill>
                  <a:srgbClr val="F5FFF5"/>
                </a:solidFill>
                <a:latin typeface="Lucida Console"/>
              </a:rPr>
              <a:t>O ROTEIRO OBJETIVO PARA VALIDAR OU DESMONTAR A TESE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117336"/>
            <a:ext cx="105457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0" b="0">
                <a:solidFill>
                  <a:srgbClr val="F5FFF5"/>
                </a:solidFill>
                <a:latin typeface="Lucida Console"/>
              </a:rPr>
              <a:t>Checklist: preço sustentado acima de 4,55% mantém o momentum curto; 4,38%–4,42% é a defesa central da tese altista; 4,95%–5,02% é o grande gatilho estrutural; e um fechamento convincente acima dessa região abre espaço para 5,50% e, depois, 6,00% em cenário estendido. Em síntese, o US10Y está em fase decisiva e o viés técnico segue altista, mas dependente de confirmação.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5FFF5"/>
                </a:solidFill>
                <a:latin typeface="Lucida Console"/>
              </a:rPr>
              <a:t>10/10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5623560"/>
            <a:ext cx="2971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5FFF5"/>
                </a:solidFill>
                <a:latin typeface="Lucida Console"/>
              </a:rPr>
              <a:t>/// MATRIX DOSSIER // USER CHARTS // TRADINGVIEW ///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532120"/>
            <a:ext cx="12191695" cy="3200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" y="5623560"/>
            <a:ext cx="41148" cy="8686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